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9D8C78-7EC1-4EC1-BD5A-1D4FDE804071}" v="8" dt="2024-11-17T20:39:32.5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fansu Janneh" userId="049a7864cd1eba96" providerId="LiveId" clId="{A518E42F-F2A3-474A-A115-5A61205F8578}"/>
    <pc:docChg chg="custSel addSld modSld sldOrd">
      <pc:chgData name="Nfansu Janneh" userId="049a7864cd1eba96" providerId="LiveId" clId="{A518E42F-F2A3-474A-A115-5A61205F8578}" dt="2024-10-26T02:05:35.831" v="55" actId="20577"/>
      <pc:docMkLst>
        <pc:docMk/>
      </pc:docMkLst>
      <pc:sldChg chg="addSp delSp modSp mod">
        <pc:chgData name="Nfansu Janneh" userId="049a7864cd1eba96" providerId="LiveId" clId="{A518E42F-F2A3-474A-A115-5A61205F8578}" dt="2024-10-26T02:05:35.831" v="55" actId="20577"/>
        <pc:sldMkLst>
          <pc:docMk/>
          <pc:sldMk cId="1912523362" sldId="256"/>
        </pc:sldMkLst>
        <pc:spChg chg="mod">
          <ac:chgData name="Nfansu Janneh" userId="049a7864cd1eba96" providerId="LiveId" clId="{A518E42F-F2A3-474A-A115-5A61205F8578}" dt="2024-10-26T01:59:38.175" v="32" actId="255"/>
          <ac:spMkLst>
            <pc:docMk/>
            <pc:sldMk cId="1912523362" sldId="256"/>
            <ac:spMk id="2" creationId="{643B1C8B-B7C1-50DB-E031-988D39DDB98E}"/>
          </ac:spMkLst>
        </pc:spChg>
        <pc:spChg chg="del mod">
          <ac:chgData name="Nfansu Janneh" userId="049a7864cd1eba96" providerId="LiveId" clId="{A518E42F-F2A3-474A-A115-5A61205F8578}" dt="2024-10-26T01:59:23.028" v="31" actId="21"/>
          <ac:spMkLst>
            <pc:docMk/>
            <pc:sldMk cId="1912523362" sldId="256"/>
            <ac:spMk id="3" creationId="{EAE0C991-7C92-4940-44BB-D6C28E257BB9}"/>
          </ac:spMkLst>
        </pc:spChg>
        <pc:spChg chg="add mod">
          <ac:chgData name="Nfansu Janneh" userId="049a7864cd1eba96" providerId="LiveId" clId="{A518E42F-F2A3-474A-A115-5A61205F8578}" dt="2024-10-26T01:59:51.816" v="33" actId="255"/>
          <ac:spMkLst>
            <pc:docMk/>
            <pc:sldMk cId="1912523362" sldId="256"/>
            <ac:spMk id="4" creationId="{C403331C-F38E-DC87-0ECE-05770776CD38}"/>
          </ac:spMkLst>
        </pc:spChg>
        <pc:spChg chg="add mod">
          <ac:chgData name="Nfansu Janneh" userId="049a7864cd1eba96" providerId="LiveId" clId="{A518E42F-F2A3-474A-A115-5A61205F8578}" dt="2024-10-26T02:05:35.831" v="55" actId="20577"/>
          <ac:spMkLst>
            <pc:docMk/>
            <pc:sldMk cId="1912523362" sldId="256"/>
            <ac:spMk id="6" creationId="{CB293E82-42AD-7669-2791-DE7BD78E8108}"/>
          </ac:spMkLst>
        </pc:spChg>
      </pc:sldChg>
      <pc:sldChg chg="addSp modSp new mod ord">
        <pc:chgData name="Nfansu Janneh" userId="049a7864cd1eba96" providerId="LiveId" clId="{A518E42F-F2A3-474A-A115-5A61205F8578}" dt="2024-10-26T02:00:29.890" v="38" actId="14100"/>
        <pc:sldMkLst>
          <pc:docMk/>
          <pc:sldMk cId="2192842541" sldId="269"/>
        </pc:sldMkLst>
        <pc:spChg chg="add mod">
          <ac:chgData name="Nfansu Janneh" userId="049a7864cd1eba96" providerId="LiveId" clId="{A518E42F-F2A3-474A-A115-5A61205F8578}" dt="2024-10-26T02:00:29.890" v="38" actId="14100"/>
          <ac:spMkLst>
            <pc:docMk/>
            <pc:sldMk cId="2192842541" sldId="269"/>
            <ac:spMk id="3" creationId="{FCCC1B07-58B4-E494-AC72-D9C12279687E}"/>
          </ac:spMkLst>
        </pc:spChg>
      </pc:sldChg>
    </pc:docChg>
  </pc:docChgLst>
  <pc:docChgLst>
    <pc:chgData name="Nfansu Janneh" userId="049a7864cd1eba96" providerId="LiveId" clId="{A19D8C78-7EC1-4EC1-BD5A-1D4FDE804071}"/>
    <pc:docChg chg="undo custSel modSld sldOrd">
      <pc:chgData name="Nfansu Janneh" userId="049a7864cd1eba96" providerId="LiveId" clId="{A19D8C78-7EC1-4EC1-BD5A-1D4FDE804071}" dt="2024-11-17T20:39:32.513" v="8" actId="1036"/>
      <pc:docMkLst>
        <pc:docMk/>
      </pc:docMkLst>
      <pc:sldChg chg="modSp mod ord">
        <pc:chgData name="Nfansu Janneh" userId="049a7864cd1eba96" providerId="LiveId" clId="{A19D8C78-7EC1-4EC1-BD5A-1D4FDE804071}" dt="2024-11-17T20:39:32.513" v="8" actId="1036"/>
        <pc:sldMkLst>
          <pc:docMk/>
          <pc:sldMk cId="2261630722" sldId="259"/>
        </pc:sldMkLst>
        <pc:picChg chg="mod">
          <ac:chgData name="Nfansu Janneh" userId="049a7864cd1eba96" providerId="LiveId" clId="{A19D8C78-7EC1-4EC1-BD5A-1D4FDE804071}" dt="2024-11-17T20:39:32.513" v="8" actId="1036"/>
          <ac:picMkLst>
            <pc:docMk/>
            <pc:sldMk cId="2261630722" sldId="259"/>
            <ac:picMk id="4" creationId="{A7BFEAD8-9BE7-9F01-5AE5-6EB3005F5885}"/>
          </ac:picMkLst>
        </pc:picChg>
      </pc:sldChg>
      <pc:sldChg chg="addSp modSp modAnim">
        <pc:chgData name="Nfansu Janneh" userId="049a7864cd1eba96" providerId="LiveId" clId="{A19D8C78-7EC1-4EC1-BD5A-1D4FDE804071}" dt="2024-11-17T20:39:26.308" v="7"/>
        <pc:sldMkLst>
          <pc:docMk/>
          <pc:sldMk cId="2944896031" sldId="266"/>
        </pc:sldMkLst>
        <pc:picChg chg="add mod">
          <ac:chgData name="Nfansu Janneh" userId="049a7864cd1eba96" providerId="LiveId" clId="{A19D8C78-7EC1-4EC1-BD5A-1D4FDE804071}" dt="2024-11-17T20:39:26.308" v="7"/>
          <ac:picMkLst>
            <pc:docMk/>
            <pc:sldMk cId="2944896031" sldId="266"/>
            <ac:picMk id="3" creationId="{5777AEED-5F2A-5F24-84EF-6873E82DFDE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6015473-2221-46FD-87D5-6C3054420019}"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AC6D9A-C5B0-4793-9739-1A33FE0EDF3A}" type="slidenum">
              <a:rPr lang="en-US" smtClean="0"/>
              <a:t>‹#›</a:t>
            </a:fld>
            <a:endParaRPr lang="en-US"/>
          </a:p>
        </p:txBody>
      </p:sp>
    </p:spTree>
    <p:extLst>
      <p:ext uri="{BB962C8B-B14F-4D97-AF65-F5344CB8AC3E}">
        <p14:creationId xmlns:p14="http://schemas.microsoft.com/office/powerpoint/2010/main" val="1405698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015473-2221-46FD-87D5-6C3054420019}"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AC6D9A-C5B0-4793-9739-1A33FE0EDF3A}" type="slidenum">
              <a:rPr lang="en-US" smtClean="0"/>
              <a:t>‹#›</a:t>
            </a:fld>
            <a:endParaRPr lang="en-US"/>
          </a:p>
        </p:txBody>
      </p:sp>
    </p:spTree>
    <p:extLst>
      <p:ext uri="{BB962C8B-B14F-4D97-AF65-F5344CB8AC3E}">
        <p14:creationId xmlns:p14="http://schemas.microsoft.com/office/powerpoint/2010/main" val="3141799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015473-2221-46FD-87D5-6C3054420019}"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AC6D9A-C5B0-4793-9739-1A33FE0EDF3A}" type="slidenum">
              <a:rPr lang="en-US" smtClean="0"/>
              <a:t>‹#›</a:t>
            </a:fld>
            <a:endParaRPr lang="en-US"/>
          </a:p>
        </p:txBody>
      </p:sp>
    </p:spTree>
    <p:extLst>
      <p:ext uri="{BB962C8B-B14F-4D97-AF65-F5344CB8AC3E}">
        <p14:creationId xmlns:p14="http://schemas.microsoft.com/office/powerpoint/2010/main" val="2417343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6015473-2221-46FD-87D5-6C3054420019}" type="datetimeFigureOut">
              <a:rPr lang="en-US" smtClean="0"/>
              <a:t>11/17/2024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AC6D9A-C5B0-4793-9739-1A33FE0EDF3A}" type="slidenum">
              <a:rPr lang="en-US" smtClean="0"/>
              <a:t>‹#›</a:t>
            </a:fld>
            <a:endParaRPr lang="en-US"/>
          </a:p>
        </p:txBody>
      </p:sp>
    </p:spTree>
    <p:extLst>
      <p:ext uri="{BB962C8B-B14F-4D97-AF65-F5344CB8AC3E}">
        <p14:creationId xmlns:p14="http://schemas.microsoft.com/office/powerpoint/2010/main" val="3118536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6015473-2221-46FD-87D5-6C3054420019}" type="datetimeFigureOut">
              <a:rPr lang="en-US" smtClean="0"/>
              <a:t>11/17/2024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5AC6D9A-C5B0-4793-9739-1A33FE0EDF3A}" type="slidenum">
              <a:rPr lang="en-US" smtClean="0"/>
              <a:t>‹#›</a:t>
            </a:fld>
            <a:endParaRPr lang="en-US"/>
          </a:p>
        </p:txBody>
      </p:sp>
    </p:spTree>
    <p:extLst>
      <p:ext uri="{BB962C8B-B14F-4D97-AF65-F5344CB8AC3E}">
        <p14:creationId xmlns:p14="http://schemas.microsoft.com/office/powerpoint/2010/main" val="1366799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E6015473-2221-46FD-87D5-6C3054420019}" type="datetimeFigureOut">
              <a:rPr lang="en-US" smtClean="0"/>
              <a:t>11/17/2024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5AC6D9A-C5B0-4793-9739-1A33FE0EDF3A}" type="slidenum">
              <a:rPr lang="en-US" smtClean="0"/>
              <a:t>‹#›</a:t>
            </a:fld>
            <a:endParaRPr lang="en-US"/>
          </a:p>
        </p:txBody>
      </p:sp>
    </p:spTree>
    <p:extLst>
      <p:ext uri="{BB962C8B-B14F-4D97-AF65-F5344CB8AC3E}">
        <p14:creationId xmlns:p14="http://schemas.microsoft.com/office/powerpoint/2010/main" val="3762646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015473-2221-46FD-87D5-6C3054420019}" type="datetimeFigureOut">
              <a:rPr lang="en-US" smtClean="0"/>
              <a:t>11/17/2024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5AC6D9A-C5B0-4793-9739-1A33FE0EDF3A}" type="slidenum">
              <a:rPr lang="en-US" smtClean="0"/>
              <a:t>‹#›</a:t>
            </a:fld>
            <a:endParaRPr lang="en-US"/>
          </a:p>
        </p:txBody>
      </p:sp>
    </p:spTree>
    <p:extLst>
      <p:ext uri="{BB962C8B-B14F-4D97-AF65-F5344CB8AC3E}">
        <p14:creationId xmlns:p14="http://schemas.microsoft.com/office/powerpoint/2010/main" val="3396191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015473-2221-46FD-87D5-6C3054420019}" type="datetimeFigureOut">
              <a:rPr lang="en-US" smtClean="0"/>
              <a:t>11/17/2024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AC6D9A-C5B0-4793-9739-1A33FE0EDF3A}" type="slidenum">
              <a:rPr lang="en-US" smtClean="0"/>
              <a:t>‹#›</a:t>
            </a:fld>
            <a:endParaRPr lang="en-US"/>
          </a:p>
        </p:txBody>
      </p:sp>
    </p:spTree>
    <p:extLst>
      <p:ext uri="{BB962C8B-B14F-4D97-AF65-F5344CB8AC3E}">
        <p14:creationId xmlns:p14="http://schemas.microsoft.com/office/powerpoint/2010/main" val="2194605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015473-2221-46FD-87D5-6C3054420019}" type="datetimeFigureOut">
              <a:rPr lang="en-US" smtClean="0"/>
              <a:t>11/17/2024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AC6D9A-C5B0-4793-9739-1A33FE0EDF3A}" type="slidenum">
              <a:rPr lang="en-US" smtClean="0"/>
              <a:t>‹#›</a:t>
            </a:fld>
            <a:endParaRPr lang="en-US"/>
          </a:p>
        </p:txBody>
      </p:sp>
    </p:spTree>
    <p:extLst>
      <p:ext uri="{BB962C8B-B14F-4D97-AF65-F5344CB8AC3E}">
        <p14:creationId xmlns:p14="http://schemas.microsoft.com/office/powerpoint/2010/main" val="116180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015473-2221-46FD-87D5-6C3054420019}"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AC6D9A-C5B0-4793-9739-1A33FE0EDF3A}" type="slidenum">
              <a:rPr lang="en-US" smtClean="0"/>
              <a:t>‹#›</a:t>
            </a:fld>
            <a:endParaRPr lang="en-US"/>
          </a:p>
        </p:txBody>
      </p:sp>
    </p:spTree>
    <p:extLst>
      <p:ext uri="{BB962C8B-B14F-4D97-AF65-F5344CB8AC3E}">
        <p14:creationId xmlns:p14="http://schemas.microsoft.com/office/powerpoint/2010/main" val="3441880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015473-2221-46FD-87D5-6C3054420019}"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AC6D9A-C5B0-4793-9739-1A33FE0EDF3A}"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21872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015473-2221-46FD-87D5-6C3054420019}"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AC6D9A-C5B0-4793-9739-1A33FE0EDF3A}" type="slidenum">
              <a:rPr lang="en-US" smtClean="0"/>
              <a:t>‹#›</a:t>
            </a:fld>
            <a:endParaRPr lang="en-US"/>
          </a:p>
        </p:txBody>
      </p:sp>
    </p:spTree>
    <p:extLst>
      <p:ext uri="{BB962C8B-B14F-4D97-AF65-F5344CB8AC3E}">
        <p14:creationId xmlns:p14="http://schemas.microsoft.com/office/powerpoint/2010/main" val="37120593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015473-2221-46FD-87D5-6C3054420019}"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AC6D9A-C5B0-4793-9739-1A33FE0EDF3A}"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079271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015473-2221-46FD-87D5-6C3054420019}"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AC6D9A-C5B0-4793-9739-1A33FE0EDF3A}" type="slidenum">
              <a:rPr lang="en-US" smtClean="0"/>
              <a:t>‹#›</a:t>
            </a:fld>
            <a:endParaRPr lang="en-US"/>
          </a:p>
        </p:txBody>
      </p:sp>
    </p:spTree>
    <p:extLst>
      <p:ext uri="{BB962C8B-B14F-4D97-AF65-F5344CB8AC3E}">
        <p14:creationId xmlns:p14="http://schemas.microsoft.com/office/powerpoint/2010/main" val="12474881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015473-2221-46FD-87D5-6C3054420019}"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AC6D9A-C5B0-4793-9739-1A33FE0EDF3A}" type="slidenum">
              <a:rPr lang="en-US" smtClean="0"/>
              <a:t>‹#›</a:t>
            </a:fld>
            <a:endParaRPr lang="en-US"/>
          </a:p>
        </p:txBody>
      </p:sp>
    </p:spTree>
    <p:extLst>
      <p:ext uri="{BB962C8B-B14F-4D97-AF65-F5344CB8AC3E}">
        <p14:creationId xmlns:p14="http://schemas.microsoft.com/office/powerpoint/2010/main" val="22565578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015473-2221-46FD-87D5-6C3054420019}" type="datetimeFigureOut">
              <a:rPr lang="en-US" smtClean="0"/>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AC6D9A-C5B0-4793-9739-1A33FE0EDF3A}" type="slidenum">
              <a:rPr lang="en-US" smtClean="0"/>
              <a:t>‹#›</a:t>
            </a:fld>
            <a:endParaRPr lang="en-US"/>
          </a:p>
        </p:txBody>
      </p:sp>
    </p:spTree>
    <p:extLst>
      <p:ext uri="{BB962C8B-B14F-4D97-AF65-F5344CB8AC3E}">
        <p14:creationId xmlns:p14="http://schemas.microsoft.com/office/powerpoint/2010/main" val="4221863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6015473-2221-46FD-87D5-6C3054420019}" type="datetimeFigureOut">
              <a:rPr lang="en-US" smtClean="0"/>
              <a:t>11/17/2024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5AC6D9A-C5B0-4793-9739-1A33FE0EDF3A}" type="slidenum">
              <a:rPr lang="en-US" smtClean="0"/>
              <a:t>‹#›</a:t>
            </a:fld>
            <a:endParaRPr lang="en-US"/>
          </a:p>
        </p:txBody>
      </p:sp>
    </p:spTree>
    <p:extLst>
      <p:ext uri="{BB962C8B-B14F-4D97-AF65-F5344CB8AC3E}">
        <p14:creationId xmlns:p14="http://schemas.microsoft.com/office/powerpoint/2010/main" val="4586741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itbrief.com.au/story/microsoft-new-advanced-healthcare-ai-capabilities-data-solutions" TargetMode="External"/><Relationship Id="rId2" Type="http://schemas.openxmlformats.org/officeDocument/2006/relationships/hyperlink" Target="https://deltalogix.blog/en/2023/02/22/intelligent-automation-benefits-and-challenges-for-companies/" TargetMode="External"/><Relationship Id="rId1" Type="http://schemas.openxmlformats.org/officeDocument/2006/relationships/slideLayout" Target="../slideLayouts/slideLayout2.xml"/><Relationship Id="rId5" Type="http://schemas.openxmlformats.org/officeDocument/2006/relationships/hyperlink" Target="https://nasianjmed.com/index.php/najm/article/view/7" TargetMode="External"/><Relationship Id="rId4" Type="http://schemas.openxmlformats.org/officeDocument/2006/relationships/hyperlink" Target="https://bernardmarr.com/5-ways-self-driving-cars-could-make-our-world-and-our-lives-better/"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dataversity.net/top-ethical-issues-with-ai-and-machine-learning/" TargetMode="External"/><Relationship Id="rId2" Type="http://schemas.openxmlformats.org/officeDocument/2006/relationships/hyperlink" Target="https://www.linkedin.com/pulse/ai-climate-change-leveraging-technology-environmental-dave-balroop-amqrc" TargetMode="External"/><Relationship Id="rId1" Type="http://schemas.openxmlformats.org/officeDocument/2006/relationships/slideLayout" Target="../slideLayouts/slideLayout7.xml"/><Relationship Id="rId4" Type="http://schemas.openxmlformats.org/officeDocument/2006/relationships/hyperlink" Target="https://www.linkedin.com/pulse/age-ai-george-orwell-matters-more-than-ever-prof-joh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B1C8B-B7C1-50DB-E031-988D39DDB98E}"/>
              </a:ext>
            </a:extLst>
          </p:cNvPr>
          <p:cNvSpPr>
            <a:spLocks noGrp="1"/>
          </p:cNvSpPr>
          <p:nvPr>
            <p:ph type="ctrTitle"/>
          </p:nvPr>
        </p:nvSpPr>
        <p:spPr>
          <a:xfrm>
            <a:off x="1088426" y="1897758"/>
            <a:ext cx="7766936" cy="1646302"/>
          </a:xfrm>
        </p:spPr>
        <p:txBody>
          <a:bodyPr/>
          <a:lstStyle/>
          <a:p>
            <a:r>
              <a:rPr lang="en-US" sz="3200" kern="100">
                <a:effectLst/>
                <a:latin typeface="Aptos" panose="020B0004020202020204" pitchFamily="34" charset="0"/>
                <a:ea typeface="Aptos" panose="020B0004020202020204" pitchFamily="34" charset="0"/>
                <a:cs typeface="Times New Roman" panose="02020603050405020304" pitchFamily="18" charset="0"/>
              </a:rPr>
              <a:t> </a:t>
            </a:r>
            <a:r>
              <a:rPr lang="en-US" sz="4000" kern="100">
                <a:effectLst/>
                <a:latin typeface="Aptos" panose="020B0004020202020204" pitchFamily="34" charset="0"/>
                <a:ea typeface="Aptos" panose="020B0004020202020204" pitchFamily="34" charset="0"/>
                <a:cs typeface="Times New Roman" panose="02020603050405020304" pitchFamily="18" charset="0"/>
              </a:rPr>
              <a:t>AI: Advantages and Disadvantage</a:t>
            </a:r>
            <a:br>
              <a:rPr lang="en-US" sz="4000" kern="100">
                <a:effectLst/>
                <a:latin typeface="Aptos" panose="020B0004020202020204" pitchFamily="34" charset="0"/>
                <a:ea typeface="Aptos" panose="020B0004020202020204" pitchFamily="34" charset="0"/>
                <a:cs typeface="Times New Roman" panose="02020603050405020304" pitchFamily="18" charset="0"/>
              </a:rPr>
            </a:br>
            <a:r>
              <a:rPr lang="en-US" sz="4000" kern="100">
                <a:effectLst/>
                <a:latin typeface="Aptos" panose="020B0004020202020204" pitchFamily="34" charset="0"/>
                <a:ea typeface="Aptos" panose="020B0004020202020204" pitchFamily="34" charset="0"/>
                <a:cs typeface="Times New Roman" panose="02020603050405020304" pitchFamily="18" charset="0"/>
              </a:rPr>
              <a:t>By Nfansu Janneh</a:t>
            </a:r>
            <a:endParaRPr lang="en-US" sz="4000"/>
          </a:p>
        </p:txBody>
      </p:sp>
      <p:sp>
        <p:nvSpPr>
          <p:cNvPr id="4" name="Rectangle 1">
            <a:extLst>
              <a:ext uri="{FF2B5EF4-FFF2-40B4-BE49-F238E27FC236}">
                <a16:creationId xmlns:a16="http://schemas.microsoft.com/office/drawing/2014/main" id="{C403331C-F38E-DC87-0ECE-05770776CD38}"/>
              </a:ext>
            </a:extLst>
          </p:cNvPr>
          <p:cNvSpPr>
            <a:spLocks noChangeArrowheads="1"/>
          </p:cNvSpPr>
          <p:nvPr/>
        </p:nvSpPr>
        <p:spPr bwMode="auto">
          <a:xfrm>
            <a:off x="3305060" y="328851"/>
            <a:ext cx="88869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a:solidFill>
                  <a:srgbClr val="FF0000"/>
                </a:solidFill>
              </a:rPr>
              <a:t>PowerPoint Presentation on Technology</a:t>
            </a:r>
          </a:p>
        </p:txBody>
      </p:sp>
      <p:sp>
        <p:nvSpPr>
          <p:cNvPr id="6" name="TextBox 5">
            <a:extLst>
              <a:ext uri="{FF2B5EF4-FFF2-40B4-BE49-F238E27FC236}">
                <a16:creationId xmlns:a16="http://schemas.microsoft.com/office/drawing/2014/main" id="{CB293E82-42AD-7669-2791-DE7BD78E8108}"/>
              </a:ext>
            </a:extLst>
          </p:cNvPr>
          <p:cNvSpPr txBox="1"/>
          <p:nvPr/>
        </p:nvSpPr>
        <p:spPr>
          <a:xfrm>
            <a:off x="3831671" y="3650950"/>
            <a:ext cx="6103344" cy="830997"/>
          </a:xfrm>
          <a:prstGeom prst="rect">
            <a:avLst/>
          </a:prstGeom>
          <a:noFill/>
        </p:spPr>
        <p:txBody>
          <a:bodyPr wrap="square">
            <a:spAutoFit/>
          </a:bodyPr>
          <a:lstStyle/>
          <a:p>
            <a:r>
              <a:rPr lang="en-US" sz="2400">
                <a:solidFill>
                  <a:schemeClr val="accent1"/>
                </a:solidFill>
              </a:rPr>
              <a:t>CIS10154A0 Intro to Computer Info Sys 10/25/2024</a:t>
            </a:r>
          </a:p>
        </p:txBody>
      </p:sp>
    </p:spTree>
    <p:extLst>
      <p:ext uri="{BB962C8B-B14F-4D97-AF65-F5344CB8AC3E}">
        <p14:creationId xmlns:p14="http://schemas.microsoft.com/office/powerpoint/2010/main" val="1912523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CC1B07-58B4-E494-AC72-D9C12279687E}"/>
              </a:ext>
            </a:extLst>
          </p:cNvPr>
          <p:cNvSpPr txBox="1"/>
          <p:nvPr/>
        </p:nvSpPr>
        <p:spPr>
          <a:xfrm>
            <a:off x="275423" y="1841650"/>
            <a:ext cx="9871112" cy="1200329"/>
          </a:xfrm>
          <a:prstGeom prst="rect">
            <a:avLst/>
          </a:prstGeom>
          <a:noFill/>
        </p:spPr>
        <p:txBody>
          <a:bodyPr wrap="square">
            <a:spAutoFit/>
          </a:bodyPr>
          <a:lstStyle/>
          <a:p>
            <a:r>
              <a:rPr lang="en-US" sz="3600" kern="100">
                <a:solidFill>
                  <a:schemeClr val="accent1"/>
                </a:solidFill>
                <a:effectLst/>
                <a:latin typeface="Aptos" panose="020B0004020202020204" pitchFamily="34" charset="0"/>
                <a:ea typeface="Aptos" panose="020B0004020202020204" pitchFamily="34" charset="0"/>
                <a:cs typeface="Times New Roman" panose="02020603050405020304" pitchFamily="18" charset="0"/>
              </a:rPr>
              <a:t>AI contributes to many business development, Health care , social mobility and sports.</a:t>
            </a:r>
            <a:endParaRPr lang="en-US" sz="3600">
              <a:solidFill>
                <a:schemeClr val="accent1"/>
              </a:solidFill>
            </a:endParaRPr>
          </a:p>
        </p:txBody>
      </p:sp>
    </p:spTree>
    <p:extLst>
      <p:ext uri="{BB962C8B-B14F-4D97-AF65-F5344CB8AC3E}">
        <p14:creationId xmlns:p14="http://schemas.microsoft.com/office/powerpoint/2010/main" val="2192842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2E947-D1CD-DE1E-64CE-3289CC4D6160}"/>
              </a:ext>
            </a:extLst>
          </p:cNvPr>
          <p:cNvSpPr>
            <a:spLocks noGrp="1"/>
          </p:cNvSpPr>
          <p:nvPr>
            <p:ph type="title"/>
          </p:nvPr>
        </p:nvSpPr>
        <p:spPr/>
        <p:txBody>
          <a:bodyPr/>
          <a:lstStyle/>
          <a:p>
            <a:r>
              <a:rPr lang="en-US" sz="1800">
                <a:effectLst/>
                <a:latin typeface="Aptos" panose="020B0004020202020204" pitchFamily="34" charset="0"/>
                <a:ea typeface="Aptos" panose="020B0004020202020204" pitchFamily="34" charset="0"/>
                <a:cs typeface="Times New Roman" panose="02020603050405020304" pitchFamily="18" charset="0"/>
              </a:rPr>
              <a:t>AI has helped in cost saving in today’s business. AI has improved many business services and availability. Companies can boast of around-the-clock services without having a human present</a:t>
            </a:r>
            <a:endParaRPr lang="en-US"/>
          </a:p>
        </p:txBody>
      </p:sp>
      <p:pic>
        <p:nvPicPr>
          <p:cNvPr id="4" name="Content Placeholder 3" descr="How is Artificial Intelligence Influencing Business Development?">
            <a:extLst>
              <a:ext uri="{FF2B5EF4-FFF2-40B4-BE49-F238E27FC236}">
                <a16:creationId xmlns:a16="http://schemas.microsoft.com/office/drawing/2014/main" id="{217AF34D-0448-65F8-7E5D-F0A189D1DD2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4257" y="1970314"/>
            <a:ext cx="6977743" cy="3297805"/>
          </a:xfrm>
          <a:prstGeom prst="rect">
            <a:avLst/>
          </a:prstGeom>
          <a:noFill/>
          <a:ln>
            <a:noFill/>
          </a:ln>
        </p:spPr>
      </p:pic>
    </p:spTree>
    <p:extLst>
      <p:ext uri="{BB962C8B-B14F-4D97-AF65-F5344CB8AC3E}">
        <p14:creationId xmlns:p14="http://schemas.microsoft.com/office/powerpoint/2010/main" val="2183821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924A0-3F7C-75D4-83B6-E16498B8F1C5}"/>
              </a:ext>
            </a:extLst>
          </p:cNvPr>
          <p:cNvSpPr>
            <a:spLocks noGrp="1"/>
          </p:cNvSpPr>
          <p:nvPr>
            <p:ph type="ctrTitle"/>
          </p:nvPr>
        </p:nvSpPr>
        <p:spPr/>
        <p:txBody>
          <a:bodyPr/>
          <a:lstStyle/>
          <a:p>
            <a:r>
              <a:rPr lang="en-US" sz="1800" kern="100">
                <a:effectLst/>
                <a:latin typeface="Aptos" panose="020B0004020202020204" pitchFamily="34" charset="0"/>
                <a:ea typeface="Aptos" panose="020B0004020202020204" pitchFamily="34" charset="0"/>
                <a:cs typeface="Times New Roman" panose="02020603050405020304" pitchFamily="18" charset="0"/>
              </a:rPr>
              <a:t>Automation is also an advance of AI, this reduces the company’s headcount, therefore helping in cost saving and reducing human error.</a:t>
            </a:r>
            <a:br>
              <a:rPr lang="en-US" sz="1800" kern="100">
                <a:effectLst/>
                <a:latin typeface="Aptos" panose="020B0004020202020204" pitchFamily="34" charset="0"/>
                <a:ea typeface="Aptos" panose="020B0004020202020204" pitchFamily="34" charset="0"/>
                <a:cs typeface="Times New Roman" panose="02020603050405020304" pitchFamily="18" charset="0"/>
              </a:rPr>
            </a:br>
            <a:endParaRPr lang="en-US"/>
          </a:p>
        </p:txBody>
      </p:sp>
      <p:sp>
        <p:nvSpPr>
          <p:cNvPr id="3" name="Subtitle 2">
            <a:extLst>
              <a:ext uri="{FF2B5EF4-FFF2-40B4-BE49-F238E27FC236}">
                <a16:creationId xmlns:a16="http://schemas.microsoft.com/office/drawing/2014/main" id="{480E31F2-D311-B78D-A441-C23B4BC08FEF}"/>
              </a:ext>
            </a:extLst>
          </p:cNvPr>
          <p:cNvSpPr>
            <a:spLocks noGrp="1"/>
          </p:cNvSpPr>
          <p:nvPr>
            <p:ph type="subTitle" idx="1"/>
          </p:nvPr>
        </p:nvSpPr>
        <p:spPr/>
        <p:txBody>
          <a:bodyPr/>
          <a:lstStyle/>
          <a:p>
            <a:endParaRPr lang="en-US"/>
          </a:p>
        </p:txBody>
      </p:sp>
      <p:pic>
        <p:nvPicPr>
          <p:cNvPr id="4" name="Picture 3" descr="Intelligent Automation">
            <a:extLst>
              <a:ext uri="{FF2B5EF4-FFF2-40B4-BE49-F238E27FC236}">
                <a16:creationId xmlns:a16="http://schemas.microsoft.com/office/drawing/2014/main" id="{87B4D3D5-B472-17B0-B93F-568E82C5E71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8829" y="3091543"/>
            <a:ext cx="9851571" cy="3766457"/>
          </a:xfrm>
          <a:prstGeom prst="rect">
            <a:avLst/>
          </a:prstGeom>
          <a:noFill/>
          <a:ln>
            <a:noFill/>
          </a:ln>
        </p:spPr>
      </p:pic>
    </p:spTree>
    <p:extLst>
      <p:ext uri="{BB962C8B-B14F-4D97-AF65-F5344CB8AC3E}">
        <p14:creationId xmlns:p14="http://schemas.microsoft.com/office/powerpoint/2010/main" val="1553833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703FF-ECB7-8AFF-6D88-4BDAA684BB35}"/>
              </a:ext>
            </a:extLst>
          </p:cNvPr>
          <p:cNvSpPr>
            <a:spLocks noGrp="1"/>
          </p:cNvSpPr>
          <p:nvPr>
            <p:ph type="title"/>
          </p:nvPr>
        </p:nvSpPr>
        <p:spPr/>
        <p:txBody>
          <a:bodyPr/>
          <a:lstStyle/>
          <a:p>
            <a:r>
              <a:rPr lang="en-US" sz="1800" kern="100">
                <a:effectLst/>
                <a:latin typeface="Aptos" panose="020B0004020202020204" pitchFamily="34" charset="0"/>
                <a:ea typeface="Aptos" panose="020B0004020202020204" pitchFamily="34" charset="0"/>
                <a:cs typeface="Times New Roman" panose="02020603050405020304" pitchFamily="18" charset="0"/>
              </a:rPr>
              <a:t>Advance in health care. The advancement in AI has contributed immensely in vaccine discovery, advances in surgery technology and new innovate patient care.</a:t>
            </a:r>
            <a:br>
              <a:rPr lang="en-US" sz="1800" kern="100">
                <a:effectLst/>
                <a:latin typeface="Aptos" panose="020B0004020202020204" pitchFamily="34" charset="0"/>
                <a:ea typeface="Aptos" panose="020B0004020202020204" pitchFamily="34" charset="0"/>
                <a:cs typeface="Times New Roman" panose="02020603050405020304" pitchFamily="18" charset="0"/>
              </a:rPr>
            </a:br>
            <a:endParaRPr lang="en-US"/>
          </a:p>
        </p:txBody>
      </p:sp>
      <p:pic>
        <p:nvPicPr>
          <p:cNvPr id="4" name="Content Placeholder 3">
            <a:extLst>
              <a:ext uri="{FF2B5EF4-FFF2-40B4-BE49-F238E27FC236}">
                <a16:creationId xmlns:a16="http://schemas.microsoft.com/office/drawing/2014/main" id="{A7BFEAD8-9BE7-9F01-5AE5-6EB3005F588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2372" y="1825625"/>
            <a:ext cx="8940058" cy="4351338"/>
          </a:xfrm>
          <a:prstGeom prst="rect">
            <a:avLst/>
          </a:prstGeom>
          <a:noFill/>
        </p:spPr>
      </p:pic>
    </p:spTree>
    <p:extLst>
      <p:ext uri="{BB962C8B-B14F-4D97-AF65-F5344CB8AC3E}">
        <p14:creationId xmlns:p14="http://schemas.microsoft.com/office/powerpoint/2010/main" val="2261630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A7057-9E9D-4D2C-CC5F-46F82D46D4CE}"/>
              </a:ext>
            </a:extLst>
          </p:cNvPr>
          <p:cNvSpPr>
            <a:spLocks noGrp="1"/>
          </p:cNvSpPr>
          <p:nvPr>
            <p:ph type="title"/>
          </p:nvPr>
        </p:nvSpPr>
        <p:spPr/>
        <p:txBody>
          <a:bodyPr/>
          <a:lstStyle/>
          <a:p>
            <a:r>
              <a:rPr lang="en-US" sz="1800" kern="100">
                <a:effectLst/>
                <a:latin typeface="Aptos" panose="020B0004020202020204" pitchFamily="34" charset="0"/>
                <a:ea typeface="Aptos" panose="020B0004020202020204" pitchFamily="34" charset="0"/>
                <a:cs typeface="Times New Roman" panose="02020603050405020304" pitchFamily="18" charset="0"/>
              </a:rPr>
              <a:t>AI has help in the world of sport medicine, and on the field technology, such as goal line technology.</a:t>
            </a:r>
            <a:br>
              <a:rPr lang="en-US" sz="1800" kern="100">
                <a:effectLst/>
                <a:latin typeface="Aptos" panose="020B0004020202020204" pitchFamily="34" charset="0"/>
                <a:ea typeface="Aptos" panose="020B0004020202020204" pitchFamily="34" charset="0"/>
                <a:cs typeface="Times New Roman" panose="02020603050405020304" pitchFamily="18" charset="0"/>
              </a:rPr>
            </a:br>
            <a:endParaRPr lang="en-US"/>
          </a:p>
        </p:txBody>
      </p:sp>
      <p:pic>
        <p:nvPicPr>
          <p:cNvPr id="4" name="Content Placeholder 3" descr="Injury Prevention, Optimized Training ...">
            <a:extLst>
              <a:ext uri="{FF2B5EF4-FFF2-40B4-BE49-F238E27FC236}">
                <a16:creationId xmlns:a16="http://schemas.microsoft.com/office/drawing/2014/main" id="{3660EEED-238D-1712-513B-B38E2B42A41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26029" y="1491343"/>
            <a:ext cx="8719457" cy="3581513"/>
          </a:xfrm>
          <a:prstGeom prst="rect">
            <a:avLst/>
          </a:prstGeom>
          <a:noFill/>
          <a:ln>
            <a:noFill/>
          </a:ln>
        </p:spPr>
      </p:pic>
    </p:spTree>
    <p:extLst>
      <p:ext uri="{BB962C8B-B14F-4D97-AF65-F5344CB8AC3E}">
        <p14:creationId xmlns:p14="http://schemas.microsoft.com/office/powerpoint/2010/main" val="2406007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1788-F260-B9EB-4B03-D73C9CF0696D}"/>
              </a:ext>
            </a:extLst>
          </p:cNvPr>
          <p:cNvSpPr>
            <a:spLocks noGrp="1"/>
          </p:cNvSpPr>
          <p:nvPr>
            <p:ph type="title"/>
          </p:nvPr>
        </p:nvSpPr>
        <p:spPr/>
        <p:txBody>
          <a:bodyPr>
            <a:normAutofit fontScale="90000"/>
          </a:bodyPr>
          <a:lstStyle/>
          <a:p>
            <a:r>
              <a:rPr lang="en-US" sz="1800" kern="100">
                <a:effectLst/>
                <a:latin typeface="Aptos" panose="020B0004020202020204" pitchFamily="34" charset="0"/>
                <a:ea typeface="Aptos" panose="020B0004020202020204" pitchFamily="34" charset="0"/>
                <a:cs typeface="Times New Roman" panose="02020603050405020304" pitchFamily="18" charset="0"/>
              </a:rPr>
              <a:t>Driverless cars are an improvement of AI. There are tests that are being conducted in many major cities all across the US and some European targeted at machine learning to make driverless cars a thing of the future.</a:t>
            </a:r>
            <a:br>
              <a:rPr lang="en-US" sz="1800" kern="100">
                <a:effectLst/>
                <a:latin typeface="Aptos" panose="020B0004020202020204" pitchFamily="34" charset="0"/>
                <a:ea typeface="Aptos" panose="020B0004020202020204" pitchFamily="34" charset="0"/>
                <a:cs typeface="Times New Roman" panose="02020603050405020304" pitchFamily="18" charset="0"/>
              </a:rPr>
            </a:br>
            <a:endParaRPr lang="en-US"/>
          </a:p>
        </p:txBody>
      </p:sp>
      <p:pic>
        <p:nvPicPr>
          <p:cNvPr id="4" name="Content Placeholder 3" descr="A person in a car reading a book">
            <a:extLst>
              <a:ext uri="{FF2B5EF4-FFF2-40B4-BE49-F238E27FC236}">
                <a16:creationId xmlns:a16="http://schemas.microsoft.com/office/drawing/2014/main" id="{6164393F-35D2-F827-ED5D-72272D32485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8571" y="1825625"/>
            <a:ext cx="9263743" cy="4351338"/>
          </a:xfrm>
          <a:prstGeom prst="rect">
            <a:avLst/>
          </a:prstGeom>
          <a:noFill/>
          <a:ln>
            <a:noFill/>
          </a:ln>
        </p:spPr>
      </p:pic>
    </p:spTree>
    <p:extLst>
      <p:ext uri="{BB962C8B-B14F-4D97-AF65-F5344CB8AC3E}">
        <p14:creationId xmlns:p14="http://schemas.microsoft.com/office/powerpoint/2010/main" val="3523505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EFB12-D2EB-28DA-02DA-4E93C3163F44}"/>
              </a:ext>
            </a:extLst>
          </p:cNvPr>
          <p:cNvSpPr>
            <a:spLocks noGrp="1"/>
          </p:cNvSpPr>
          <p:nvPr>
            <p:ph type="title"/>
          </p:nvPr>
        </p:nvSpPr>
        <p:spPr/>
        <p:txBody>
          <a:bodyPr/>
          <a:lstStyle/>
          <a:p>
            <a:r>
              <a:rPr lang="en-US" sz="1800" kern="100">
                <a:effectLst/>
                <a:latin typeface="Aptos" panose="020B0004020202020204" pitchFamily="34" charset="0"/>
                <a:ea typeface="Aptos" panose="020B0004020202020204" pitchFamily="34" charset="0"/>
                <a:cs typeface="Times New Roman" panose="02020603050405020304" pitchFamily="18" charset="0"/>
              </a:rPr>
              <a:t>Climate change technology. AI has been helping in combating the effects of climate change.</a:t>
            </a:r>
            <a:br>
              <a:rPr lang="en-US" sz="1800" kern="100">
                <a:effectLst/>
                <a:latin typeface="Aptos" panose="020B0004020202020204" pitchFamily="34" charset="0"/>
                <a:ea typeface="Aptos" panose="020B0004020202020204" pitchFamily="34" charset="0"/>
                <a:cs typeface="Times New Roman" panose="02020603050405020304" pitchFamily="18" charset="0"/>
              </a:rPr>
            </a:br>
            <a:endParaRPr lang="en-US"/>
          </a:p>
        </p:txBody>
      </p:sp>
      <p:pic>
        <p:nvPicPr>
          <p:cNvPr id="4" name="Content Placeholder 3" descr="AI and Climate Change: Leveraging ...">
            <a:extLst>
              <a:ext uri="{FF2B5EF4-FFF2-40B4-BE49-F238E27FC236}">
                <a16:creationId xmlns:a16="http://schemas.microsoft.com/office/drawing/2014/main" id="{80A6FBA1-EA6E-D233-6A3A-5502B870FCD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64771" y="1186543"/>
            <a:ext cx="8795658" cy="3614851"/>
          </a:xfrm>
          <a:prstGeom prst="rect">
            <a:avLst/>
          </a:prstGeom>
          <a:noFill/>
          <a:ln>
            <a:noFill/>
          </a:ln>
        </p:spPr>
      </p:pic>
    </p:spTree>
    <p:extLst>
      <p:ext uri="{BB962C8B-B14F-4D97-AF65-F5344CB8AC3E}">
        <p14:creationId xmlns:p14="http://schemas.microsoft.com/office/powerpoint/2010/main" val="647945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B8595C-8D45-E42F-D7AC-37E66BFE3F64}"/>
              </a:ext>
            </a:extLst>
          </p:cNvPr>
          <p:cNvSpPr txBox="1"/>
          <p:nvPr/>
        </p:nvSpPr>
        <p:spPr>
          <a:xfrm>
            <a:off x="3048000" y="3072139"/>
            <a:ext cx="6096000" cy="713722"/>
          </a:xfrm>
          <a:prstGeom prst="rect">
            <a:avLst/>
          </a:prstGeom>
          <a:noFill/>
        </p:spPr>
        <p:txBody>
          <a:bodyPr wrap="square">
            <a:spAutoFit/>
          </a:bodyPr>
          <a:lstStyle/>
          <a:p>
            <a:pPr marL="0" marR="0">
              <a:lnSpc>
                <a:spcPct val="115000"/>
              </a:lnSpc>
              <a:spcAft>
                <a:spcPts val="800"/>
              </a:spcAft>
              <a:tabLst>
                <a:tab pos="2152650" algn="l"/>
              </a:tabLst>
            </a:pPr>
            <a:r>
              <a:rPr lang="en-US" sz="1800" kern="100">
                <a:effectLst/>
                <a:latin typeface="Aptos" panose="020B0004020202020204" pitchFamily="34" charset="0"/>
                <a:ea typeface="Aptos" panose="020B0004020202020204" pitchFamily="34" charset="0"/>
                <a:cs typeface="Times New Roman" panose="02020603050405020304" pitchFamily="18" charset="0"/>
              </a:rPr>
              <a:t>Disadvantages of AI include Ethical Concerns, Unemployment and Social Control and lack of freedom.</a:t>
            </a:r>
          </a:p>
        </p:txBody>
      </p:sp>
    </p:spTree>
    <p:extLst>
      <p:ext uri="{BB962C8B-B14F-4D97-AF65-F5344CB8AC3E}">
        <p14:creationId xmlns:p14="http://schemas.microsoft.com/office/powerpoint/2010/main" val="2238787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F134D-57D1-B059-1270-3968905CFB61}"/>
              </a:ext>
            </a:extLst>
          </p:cNvPr>
          <p:cNvSpPr>
            <a:spLocks noGrp="1"/>
          </p:cNvSpPr>
          <p:nvPr>
            <p:ph type="title"/>
          </p:nvPr>
        </p:nvSpPr>
        <p:spPr/>
        <p:txBody>
          <a:bodyPr/>
          <a:lstStyle/>
          <a:p>
            <a:r>
              <a:rPr lang="en-US" sz="1800" kern="100">
                <a:effectLst/>
                <a:latin typeface="Aptos" panose="020B0004020202020204" pitchFamily="34" charset="0"/>
                <a:ea typeface="Aptos" panose="020B0004020202020204" pitchFamily="34" charset="0"/>
                <a:cs typeface="Times New Roman" panose="02020603050405020304" pitchFamily="18" charset="0"/>
              </a:rPr>
              <a:t>Ethical concerns can lead to discrimination against race and age.</a:t>
            </a:r>
            <a:br>
              <a:rPr lang="en-US" sz="1800" kern="100">
                <a:effectLst/>
                <a:latin typeface="Aptos" panose="020B0004020202020204" pitchFamily="34" charset="0"/>
                <a:ea typeface="Aptos" panose="020B0004020202020204" pitchFamily="34" charset="0"/>
                <a:cs typeface="Times New Roman" panose="02020603050405020304" pitchFamily="18" charset="0"/>
              </a:rPr>
            </a:br>
            <a:endParaRPr lang="en-US"/>
          </a:p>
        </p:txBody>
      </p:sp>
      <p:pic>
        <p:nvPicPr>
          <p:cNvPr id="4" name="Content Placeholder 3" descr="Top Ethical Issues with AI and Machine ...">
            <a:extLst>
              <a:ext uri="{FF2B5EF4-FFF2-40B4-BE49-F238E27FC236}">
                <a16:creationId xmlns:a16="http://schemas.microsoft.com/office/drawing/2014/main" id="{20C37E6B-CCA2-5DCF-CB9B-CDD9C3E1F00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57943" y="1796143"/>
            <a:ext cx="7315200" cy="3113313"/>
          </a:xfrm>
          <a:prstGeom prst="rect">
            <a:avLst/>
          </a:prstGeom>
          <a:noFill/>
          <a:ln>
            <a:noFill/>
          </a:ln>
        </p:spPr>
      </p:pic>
    </p:spTree>
    <p:extLst>
      <p:ext uri="{BB962C8B-B14F-4D97-AF65-F5344CB8AC3E}">
        <p14:creationId xmlns:p14="http://schemas.microsoft.com/office/powerpoint/2010/main" val="3460696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87E0A-63BD-42D2-E2A8-6C6D33C96E1E}"/>
              </a:ext>
            </a:extLst>
          </p:cNvPr>
          <p:cNvSpPr>
            <a:spLocks noGrp="1"/>
          </p:cNvSpPr>
          <p:nvPr>
            <p:ph type="title"/>
          </p:nvPr>
        </p:nvSpPr>
        <p:spPr/>
        <p:txBody>
          <a:bodyPr>
            <a:normAutofit fontScale="90000"/>
          </a:bodyPr>
          <a:lstStyle/>
          <a:p>
            <a:r>
              <a:rPr lang="en-US" sz="1800" kern="100">
                <a:effectLst/>
                <a:latin typeface="Aptos" panose="020B0004020202020204" pitchFamily="34" charset="0"/>
                <a:ea typeface="Aptos" panose="020B0004020202020204" pitchFamily="34" charset="0"/>
                <a:cs typeface="Times New Roman" panose="02020603050405020304" pitchFamily="18" charset="0"/>
              </a:rPr>
              <a:t>With many businesses utilizing AI, this led to many  laying off employees in cut saving measures. Many professions such as customer service may become obsolete especially when robots start talking.</a:t>
            </a:r>
            <a:br>
              <a:rPr lang="en-US" sz="1800" kern="100">
                <a:effectLst/>
                <a:latin typeface="Aptos" panose="020B0004020202020204" pitchFamily="34" charset="0"/>
                <a:ea typeface="Aptos" panose="020B0004020202020204" pitchFamily="34" charset="0"/>
                <a:cs typeface="Times New Roman" panose="02020603050405020304" pitchFamily="18" charset="0"/>
              </a:rPr>
            </a:br>
            <a:endParaRPr lang="en-US"/>
          </a:p>
        </p:txBody>
      </p:sp>
      <p:pic>
        <p:nvPicPr>
          <p:cNvPr id="4" name="Content Placeholder 3" descr="Artificial Intelligence : Will cause ...">
            <a:extLst>
              <a:ext uri="{FF2B5EF4-FFF2-40B4-BE49-F238E27FC236}">
                <a16:creationId xmlns:a16="http://schemas.microsoft.com/office/drawing/2014/main" id="{501AFE90-D69F-EA49-FD1C-8DDE90F334E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8314" y="1273630"/>
            <a:ext cx="9492343" cy="3599202"/>
          </a:xfrm>
          <a:prstGeom prst="rect">
            <a:avLst/>
          </a:prstGeom>
          <a:noFill/>
          <a:ln>
            <a:noFill/>
          </a:ln>
        </p:spPr>
      </p:pic>
    </p:spTree>
    <p:extLst>
      <p:ext uri="{BB962C8B-B14F-4D97-AF65-F5344CB8AC3E}">
        <p14:creationId xmlns:p14="http://schemas.microsoft.com/office/powerpoint/2010/main" val="3156872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21931-A848-6331-DA72-AEC47C73EB8E}"/>
              </a:ext>
            </a:extLst>
          </p:cNvPr>
          <p:cNvSpPr>
            <a:spLocks noGrp="1"/>
          </p:cNvSpPr>
          <p:nvPr>
            <p:ph type="title"/>
          </p:nvPr>
        </p:nvSpPr>
        <p:spPr/>
        <p:txBody>
          <a:bodyPr>
            <a:normAutofit fontScale="90000"/>
          </a:bodyPr>
          <a:lstStyle/>
          <a:p>
            <a:r>
              <a:rPr lang="en-US" sz="1800" kern="100">
                <a:effectLst/>
                <a:latin typeface="Aptos" panose="020B0004020202020204" pitchFamily="34" charset="0"/>
                <a:ea typeface="Aptos" panose="020B0004020202020204" pitchFamily="34" charset="0"/>
                <a:cs typeface="Times New Roman" panose="02020603050405020304" pitchFamily="18" charset="0"/>
              </a:rPr>
              <a:t>AI and the power it holds can be use by security agencies to control the masses , physically mentally and psychological control as advice in the novel 1984 by George </a:t>
            </a:r>
            <a:r>
              <a:rPr lang="en-US" sz="1800" kern="100" err="1">
                <a:effectLst/>
                <a:latin typeface="Aptos" panose="020B0004020202020204" pitchFamily="34" charset="0"/>
                <a:ea typeface="Aptos" panose="020B0004020202020204" pitchFamily="34" charset="0"/>
                <a:cs typeface="Times New Roman" panose="02020603050405020304" pitchFamily="18" charset="0"/>
              </a:rPr>
              <a:t>owell</a:t>
            </a:r>
            <a:r>
              <a:rPr lang="en-US" sz="1800" kern="100">
                <a:effectLst/>
                <a:latin typeface="Aptos" panose="020B0004020202020204" pitchFamily="34" charset="0"/>
                <a:ea typeface="Aptos" panose="020B0004020202020204" pitchFamily="34" charset="0"/>
                <a:cs typeface="Times New Roman" panose="02020603050405020304" pitchFamily="18" charset="0"/>
              </a:rPr>
              <a:t>.</a:t>
            </a:r>
            <a:br>
              <a:rPr lang="en-US" sz="1800" kern="100">
                <a:effectLst/>
                <a:latin typeface="Aptos" panose="020B0004020202020204" pitchFamily="34" charset="0"/>
                <a:ea typeface="Aptos" panose="020B0004020202020204" pitchFamily="34" charset="0"/>
                <a:cs typeface="Times New Roman" panose="02020603050405020304" pitchFamily="18" charset="0"/>
              </a:rPr>
            </a:br>
            <a:endParaRPr lang="en-US"/>
          </a:p>
        </p:txBody>
      </p:sp>
      <p:pic>
        <p:nvPicPr>
          <p:cNvPr id="4" name="Content Placeholder 3" descr="In the age of AI, George Orwell matters ...">
            <a:extLst>
              <a:ext uri="{FF2B5EF4-FFF2-40B4-BE49-F238E27FC236}">
                <a16:creationId xmlns:a16="http://schemas.microsoft.com/office/drawing/2014/main" id="{B8BA7E69-AF99-A94F-5AF9-4C79919AC8D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5656" y="1382486"/>
            <a:ext cx="9644743" cy="3399858"/>
          </a:xfrm>
          <a:prstGeom prst="rect">
            <a:avLst/>
          </a:prstGeom>
          <a:noFill/>
          <a:ln>
            <a:noFill/>
          </a:ln>
        </p:spPr>
      </p:pic>
    </p:spTree>
    <p:extLst>
      <p:ext uri="{BB962C8B-B14F-4D97-AF65-F5344CB8AC3E}">
        <p14:creationId xmlns:p14="http://schemas.microsoft.com/office/powerpoint/2010/main" val="2944896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EB18E-116D-7235-471B-62206DD77519}"/>
              </a:ext>
            </a:extLst>
          </p:cNvPr>
          <p:cNvSpPr>
            <a:spLocks noGrp="1"/>
          </p:cNvSpPr>
          <p:nvPr>
            <p:ph type="title"/>
          </p:nvPr>
        </p:nvSpPr>
        <p:spPr/>
        <p:txBody>
          <a:bodyPr/>
          <a:lstStyle/>
          <a:p>
            <a:r>
              <a:rPr lang="en-US" sz="1800" kern="100">
                <a:effectLst/>
                <a:latin typeface="Aptos" panose="020B0004020202020204" pitchFamily="34" charset="0"/>
                <a:ea typeface="Aptos" panose="020B0004020202020204" pitchFamily="34" charset="0"/>
                <a:cs typeface="Times New Roman" panose="02020603050405020304" pitchFamily="18" charset="0"/>
              </a:rPr>
              <a:t>Sources</a:t>
            </a:r>
            <a:br>
              <a:rPr lang="en-US" sz="1800" kern="100">
                <a:effectLst/>
                <a:latin typeface="Aptos" panose="020B0004020202020204" pitchFamily="34" charset="0"/>
                <a:ea typeface="Aptos" panose="020B0004020202020204" pitchFamily="34" charset="0"/>
                <a:cs typeface="Times New Roman" panose="02020603050405020304" pitchFamily="18" charset="0"/>
              </a:rPr>
            </a:br>
            <a:endParaRPr lang="en-US"/>
          </a:p>
        </p:txBody>
      </p:sp>
      <p:sp>
        <p:nvSpPr>
          <p:cNvPr id="3" name="Content Placeholder 2">
            <a:extLst>
              <a:ext uri="{FF2B5EF4-FFF2-40B4-BE49-F238E27FC236}">
                <a16:creationId xmlns:a16="http://schemas.microsoft.com/office/drawing/2014/main" id="{FD81EEA5-B6E7-A740-7F2B-45E56E9AA679}"/>
              </a:ext>
            </a:extLst>
          </p:cNvPr>
          <p:cNvSpPr>
            <a:spLocks noGrp="1"/>
          </p:cNvSpPr>
          <p:nvPr>
            <p:ph idx="1"/>
          </p:nvPr>
        </p:nvSpPr>
        <p:spPr>
          <a:xfrm>
            <a:off x="838200" y="1825625"/>
            <a:ext cx="10515600" cy="4667250"/>
          </a:xfrm>
        </p:spPr>
        <p:txBody>
          <a:bodyPr>
            <a:normAutofit fontScale="85000" lnSpcReduction="10000"/>
          </a:bodyPr>
          <a:lstStyle/>
          <a:p>
            <a:pPr marL="0" marR="0">
              <a:lnSpc>
                <a:spcPct val="115000"/>
              </a:lnSpc>
              <a:spcAft>
                <a:spcPts val="800"/>
              </a:spcAft>
              <a:tabLst>
                <a:tab pos="2152650" algn="l"/>
              </a:tabLst>
            </a:pPr>
            <a:r>
              <a:rPr lang="en-US" sz="1800" kern="100">
                <a:effectLst/>
                <a:latin typeface="Aptos" panose="020B0004020202020204" pitchFamily="34" charset="0"/>
                <a:ea typeface="Aptos" panose="020B0004020202020204" pitchFamily="34" charset="0"/>
                <a:cs typeface="Times New Roman" panose="02020603050405020304" pitchFamily="18" charset="0"/>
              </a:rPr>
              <a:t>How is Artificial Intelligence Influencing Business Development?</a:t>
            </a:r>
          </a:p>
          <a:p>
            <a:pPr marL="0" marR="0">
              <a:lnSpc>
                <a:spcPct val="115000"/>
              </a:lnSpc>
              <a:spcAft>
                <a:spcPts val="800"/>
              </a:spcAft>
              <a:tabLst>
                <a:tab pos="2152650" algn="l"/>
              </a:tabLst>
            </a:pPr>
            <a:r>
              <a:rPr lang="en-US" sz="1800" kern="100">
                <a:effectLst/>
                <a:latin typeface="Aptos" panose="020B0004020202020204" pitchFamily="34" charset="0"/>
                <a:ea typeface="Aptos" panose="020B0004020202020204" pitchFamily="34" charset="0"/>
                <a:cs typeface="Times New Roman" panose="02020603050405020304" pitchFamily="18" charset="0"/>
              </a:rPr>
              <a:t>https://www.analyticsinsight.net/artificial-intelligence/how-is-artificial-intelligence-influencing-business-development</a:t>
            </a:r>
          </a:p>
          <a:p>
            <a:pPr marL="0" marR="0">
              <a:lnSpc>
                <a:spcPct val="115000"/>
              </a:lnSpc>
              <a:spcAft>
                <a:spcPts val="800"/>
              </a:spcAft>
              <a:tabLst>
                <a:tab pos="2152650" algn="l"/>
              </a:tabLst>
            </a:pPr>
            <a:r>
              <a:rPr lang="en-US" sz="1800" kern="100">
                <a:effectLst/>
                <a:latin typeface="Aptos" panose="020B0004020202020204" pitchFamily="34" charset="0"/>
                <a:ea typeface="Aptos" panose="020B0004020202020204" pitchFamily="34" charset="0"/>
                <a:cs typeface="Times New Roman" panose="02020603050405020304" pitchFamily="18" charset="0"/>
              </a:rPr>
              <a:t>Intelligent Automation: benefits and challenges for companies</a:t>
            </a:r>
          </a:p>
          <a:p>
            <a:pPr marL="0" marR="0">
              <a:lnSpc>
                <a:spcPct val="115000"/>
              </a:lnSpc>
              <a:spcAft>
                <a:spcPts val="800"/>
              </a:spcAft>
              <a:tabLst>
                <a:tab pos="2152650" algn="l"/>
              </a:tabLst>
            </a:pPr>
            <a:r>
              <a:rPr lang="en-US" sz="1800" u="sng" kern="10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https://deltalogix.blog/en/2023/02/22/intelligent-automation-benefits-and-challenges-for-companies/</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tabLst>
                <a:tab pos="2152650" algn="l"/>
              </a:tabLst>
            </a:pPr>
            <a:r>
              <a:rPr lang="en-US" sz="1800" kern="100">
                <a:effectLst/>
                <a:latin typeface="Aptos" panose="020B0004020202020204" pitchFamily="34" charset="0"/>
                <a:ea typeface="Aptos" panose="020B0004020202020204" pitchFamily="34" charset="0"/>
                <a:cs typeface="Times New Roman" panose="02020603050405020304" pitchFamily="18" charset="0"/>
              </a:rPr>
              <a:t>Microsoft new advanced healthcare AI capabilities &amp; data solutions</a:t>
            </a:r>
          </a:p>
          <a:p>
            <a:pPr marL="0" marR="0">
              <a:lnSpc>
                <a:spcPct val="115000"/>
              </a:lnSpc>
              <a:spcAft>
                <a:spcPts val="800"/>
              </a:spcAft>
              <a:tabLst>
                <a:tab pos="2152650" algn="l"/>
              </a:tabLst>
            </a:pPr>
            <a:r>
              <a:rPr lang="en-US" sz="1800" u="sng" kern="10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https://itbrief.com.au/story/microsoft-new-advanced-healthcare-ai-capabilities-data-solutions</a:t>
            </a:r>
            <a:endParaRPr lang="en-US" sz="1800" u="sng" kern="100">
              <a:solidFill>
                <a:srgbClr val="467886"/>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tabLst>
                <a:tab pos="2152650" algn="l"/>
              </a:tabLst>
            </a:pPr>
            <a:r>
              <a:rPr lang="en-US" sz="1800" kern="100">
                <a:effectLst/>
                <a:latin typeface="Aptos" panose="020B0004020202020204" pitchFamily="34" charset="0"/>
                <a:ea typeface="Aptos" panose="020B0004020202020204" pitchFamily="34" charset="0"/>
                <a:cs typeface="Times New Roman" panose="02020603050405020304" pitchFamily="18" charset="0"/>
              </a:rPr>
              <a:t>5 Ways Self-Driving Cars Could Make Our World (And Our Lives) Better</a:t>
            </a:r>
          </a:p>
          <a:p>
            <a:pPr marL="0" marR="0">
              <a:lnSpc>
                <a:spcPct val="115000"/>
              </a:lnSpc>
              <a:spcAft>
                <a:spcPts val="800"/>
              </a:spcAft>
              <a:tabLst>
                <a:tab pos="2152650" algn="l"/>
              </a:tabLst>
            </a:pPr>
            <a:r>
              <a:rPr lang="en-US" sz="1800" u="sng" kern="10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4"/>
              </a:rPr>
              <a:t>https://bernardmarr.com/5-ways-self-driving-cars-could-make-our-world-and-our-lives-better/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tabLst>
                <a:tab pos="2152650" algn="l"/>
              </a:tabLst>
            </a:pPr>
            <a:r>
              <a:rPr lang="en-US" sz="1800" kern="100">
                <a:effectLst/>
                <a:latin typeface="Aptos" panose="020B0004020202020204" pitchFamily="34" charset="0"/>
                <a:ea typeface="Aptos" panose="020B0004020202020204" pitchFamily="34" charset="0"/>
                <a:cs typeface="Times New Roman" panose="02020603050405020304" pitchFamily="18" charset="0"/>
              </a:rPr>
              <a:t>Injury Prevention, Optimized Training and Rehabilitation: How Is AI Reshaping the Field of Sports Medicine</a:t>
            </a:r>
          </a:p>
          <a:p>
            <a:pPr marL="0" marR="0">
              <a:lnSpc>
                <a:spcPct val="115000"/>
              </a:lnSpc>
              <a:spcAft>
                <a:spcPts val="800"/>
              </a:spcAft>
              <a:tabLst>
                <a:tab pos="2152650" algn="l"/>
              </a:tabLst>
            </a:pPr>
            <a:r>
              <a:rPr lang="en-US" sz="1800" u="sng" kern="10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5"/>
              </a:rPr>
              <a:t>https://nasianjmed.com/index.php/najm/article/view/7</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tabLst>
                <a:tab pos="2152650" algn="l"/>
              </a:tabLst>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a:p>
        </p:txBody>
      </p:sp>
    </p:spTree>
    <p:extLst>
      <p:ext uri="{BB962C8B-B14F-4D97-AF65-F5344CB8AC3E}">
        <p14:creationId xmlns:p14="http://schemas.microsoft.com/office/powerpoint/2010/main" val="3341321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74268F-8219-A5DB-141A-623599E72DB7}"/>
              </a:ext>
            </a:extLst>
          </p:cNvPr>
          <p:cNvSpPr txBox="1"/>
          <p:nvPr/>
        </p:nvSpPr>
        <p:spPr>
          <a:xfrm>
            <a:off x="154236" y="997498"/>
            <a:ext cx="8992518" cy="4231415"/>
          </a:xfrm>
          <a:prstGeom prst="rect">
            <a:avLst/>
          </a:prstGeom>
          <a:noFill/>
        </p:spPr>
        <p:txBody>
          <a:bodyPr wrap="square">
            <a:spAutoFit/>
          </a:bodyPr>
          <a:lstStyle/>
          <a:p>
            <a:pPr marL="0" marR="0">
              <a:lnSpc>
                <a:spcPct val="115000"/>
              </a:lnSpc>
              <a:spcAft>
                <a:spcPts val="800"/>
              </a:spcAft>
              <a:tabLst>
                <a:tab pos="2152650" algn="l"/>
              </a:tabLst>
            </a:pPr>
            <a:r>
              <a:rPr lang="en-US" sz="1800" kern="100">
                <a:effectLst/>
                <a:latin typeface="Aptos" panose="020B0004020202020204" pitchFamily="34" charset="0"/>
                <a:ea typeface="Aptos" panose="020B0004020202020204" pitchFamily="34" charset="0"/>
                <a:cs typeface="Times New Roman" panose="02020603050405020304" pitchFamily="18" charset="0"/>
              </a:rPr>
              <a:t>AI and Climate Change: Leveraging Technology for Environmental Sustainability in 2024</a:t>
            </a:r>
          </a:p>
          <a:p>
            <a:pPr marL="0" marR="0">
              <a:lnSpc>
                <a:spcPct val="115000"/>
              </a:lnSpc>
              <a:spcAft>
                <a:spcPts val="800"/>
              </a:spcAft>
              <a:tabLst>
                <a:tab pos="2152650" algn="l"/>
              </a:tabLst>
            </a:pPr>
            <a:r>
              <a:rPr lang="en-US" sz="1800" u="sng" kern="10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https://www.linkedin.com/pulse/ai-climate-change-leveraging-technology-environmental-dave-balroop-amqrc</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tabLst>
                <a:tab pos="2152650" algn="l"/>
              </a:tabLst>
            </a:pPr>
            <a:r>
              <a:rPr lang="en-US" sz="1800" kern="100">
                <a:effectLst/>
                <a:latin typeface="Aptos" panose="020B0004020202020204" pitchFamily="34" charset="0"/>
                <a:ea typeface="Aptos" panose="020B0004020202020204" pitchFamily="34" charset="0"/>
                <a:cs typeface="Times New Roman" panose="02020603050405020304" pitchFamily="18" charset="0"/>
              </a:rPr>
              <a:t>Top Ethical Issues with AI and Machine Learning</a:t>
            </a:r>
          </a:p>
          <a:p>
            <a:pPr marL="0" marR="0">
              <a:lnSpc>
                <a:spcPct val="115000"/>
              </a:lnSpc>
              <a:spcAft>
                <a:spcPts val="800"/>
              </a:spcAft>
              <a:tabLst>
                <a:tab pos="2152650" algn="l"/>
              </a:tabLst>
            </a:pPr>
            <a:r>
              <a:rPr lang="en-US" sz="1800" u="sng" kern="10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https://www.dataversity.net/top-ethical-issues-with-ai-and-machine-learning/</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tabLst>
                <a:tab pos="2152650" algn="l"/>
              </a:tabLst>
            </a:pPr>
            <a:r>
              <a:rPr lang="en-US" sz="1800" kern="100">
                <a:effectLst/>
                <a:latin typeface="Aptos" panose="020B0004020202020204" pitchFamily="34" charset="0"/>
                <a:ea typeface="Aptos" panose="020B0004020202020204" pitchFamily="34" charset="0"/>
                <a:cs typeface="Times New Roman" panose="02020603050405020304" pitchFamily="18" charset="0"/>
              </a:rPr>
              <a:t>Artificial Intelligence : Will cause the unemployment ?</a:t>
            </a:r>
          </a:p>
          <a:p>
            <a:pPr marL="0" marR="0">
              <a:lnSpc>
                <a:spcPct val="115000"/>
              </a:lnSpc>
              <a:spcAft>
                <a:spcPts val="800"/>
              </a:spcAft>
              <a:tabLst>
                <a:tab pos="2152650" algn="l"/>
              </a:tabLst>
            </a:pPr>
            <a:r>
              <a:rPr lang="en-US" sz="1800" kern="100">
                <a:effectLst/>
                <a:latin typeface="Aptos" panose="020B0004020202020204" pitchFamily="34" charset="0"/>
                <a:ea typeface="Aptos" panose="020B0004020202020204" pitchFamily="34" charset="0"/>
                <a:cs typeface="Times New Roman" panose="02020603050405020304" pitchFamily="18" charset="0"/>
              </a:rPr>
              <a:t>https://www.linkedin.com/pulse/artificial-intelligence-cause-unemployment-vivek-kumar-shukla</a:t>
            </a:r>
          </a:p>
          <a:p>
            <a:pPr marL="0" marR="0">
              <a:lnSpc>
                <a:spcPct val="115000"/>
              </a:lnSpc>
              <a:spcAft>
                <a:spcPts val="800"/>
              </a:spcAft>
              <a:tabLst>
                <a:tab pos="2152650" algn="l"/>
              </a:tabLst>
            </a:pPr>
            <a:r>
              <a:rPr lang="en-US" sz="1800" kern="100">
                <a:effectLst/>
                <a:latin typeface="Aptos" panose="020B0004020202020204" pitchFamily="34" charset="0"/>
                <a:ea typeface="Aptos" panose="020B0004020202020204" pitchFamily="34" charset="0"/>
                <a:cs typeface="Times New Roman" panose="02020603050405020304" pitchFamily="18" charset="0"/>
              </a:rPr>
              <a:t>In the age of AI, George Orwell matters more than ever</a:t>
            </a:r>
          </a:p>
          <a:p>
            <a:r>
              <a:rPr lang="en-US" sz="1800" u="sng">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4"/>
              </a:rPr>
              <a:t>https://www.linkedin.com/pulse/age-ai-george-orwell-matters-more-than-ever-prof-johan-</a:t>
            </a:r>
            <a:endParaRPr lang="en-US"/>
          </a:p>
        </p:txBody>
      </p:sp>
    </p:spTree>
    <p:extLst>
      <p:ext uri="{BB962C8B-B14F-4D97-AF65-F5344CB8AC3E}">
        <p14:creationId xmlns:p14="http://schemas.microsoft.com/office/powerpoint/2010/main" val="197633105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 AI: Advantages and Disadvantage By Nfansu Janneh</vt:lpstr>
      <vt:lpstr>PowerPoint Presentation</vt:lpstr>
      <vt:lpstr>AI has helped in cost saving in today’s business. AI has improved many business services and availability. Companies can boast of around-the-clock services without having a human present</vt:lpstr>
      <vt:lpstr>Automation is also an advance of AI, this reduces the company’s headcount, therefore helping in cost saving and reducing human error. </vt:lpstr>
      <vt:lpstr>Advance in health care. The advancement in AI has contributed immensely in vaccine discovery, advances in surgery technology and new innovate patient care. </vt:lpstr>
      <vt:lpstr>AI has help in the world of sport medicine, and on the field technology, such as goal line technology. </vt:lpstr>
      <vt:lpstr>Driverless cars are an improvement of AI. There are tests that are being conducted in many major cities all across the US and some European targeted at machine learning to make driverless cars a thing of the future. </vt:lpstr>
      <vt:lpstr>Climate change technology. AI has been helping in combating the effects of climate change. </vt:lpstr>
      <vt:lpstr>PowerPoint Presentation</vt:lpstr>
      <vt:lpstr>Ethical concerns can lead to discrimination against race and age. </vt:lpstr>
      <vt:lpstr>With many businesses utilizing AI, this led to many  laying off employees in cut saving measures. Many professions such as customer service may become obsolete especially when robots start talking. </vt:lpstr>
      <vt:lpstr>AI and the power it holds can be use by security agencies to control the masses , physically mentally and psychological control as advice in the novel 1984 by George owell. </vt:lpstr>
      <vt:lpstr>Sources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Nfansu Janneh</dc:creator>
  <cp:revision>1</cp:revision>
  <dcterms:created xsi:type="dcterms:W3CDTF">2024-10-26T01:28:22Z</dcterms:created>
  <dcterms:modified xsi:type="dcterms:W3CDTF">2024-11-17T20:39:52Z</dcterms:modified>
</cp:coreProperties>
</file>